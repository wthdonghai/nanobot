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457200"/>
            <a:ext cx="1371600" cy="1371600"/>
          </a:xfrm>
          <a:prstGeom prst="ellipse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457200" y="3657600"/>
            <a:ext cx="1828800" cy="1828800"/>
          </a:xfrm>
          <a:prstGeom prst="ellipse">
            <a:avLst/>
          </a:prstGeom>
          <a:solidFill>
            <a:srgbClr val="FFFFFF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OpenViking 技术架构深度解析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3657600" y="3017520"/>
            <a:ext cx="1828800" cy="36576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6F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通用知识库系统与Agent框架集成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8580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OpenViking 是什么？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定位: AI Agent的Context Database（上下文数据库）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2070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核心理念: 用文件系统范式统一Agent所需的三类上下文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99616"/>
            <a:ext cx="8229600" cy="228600"/>
          </a:xfrm>
          <a:prstGeom prst="rect">
            <a:avLst>
              <a:gd name="adj" fmla="val 8000"/>
            </a:avLst>
          </a:prstGeom>
          <a:solidFill>
            <a:srgbClr val="EDF2F7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499616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📁 Resources（资源/文档）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746504"/>
            <a:ext cx="8229600" cy="228600"/>
          </a:xfrm>
          <a:prstGeom prst="rect">
            <a:avLst>
              <a:gd name="adj" fmla="val 8000"/>
            </a:avLst>
          </a:prstGeom>
          <a:solidFill>
            <a:srgbClr val="EDF2F7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746504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🧠 Memories（记忆）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8229600" cy="228600"/>
          </a:xfrm>
          <a:prstGeom prst="rect">
            <a:avLst>
              <a:gd name="adj" fmla="val 8000"/>
            </a:avLst>
          </a:prstGeom>
          <a:solidFill>
            <a:srgbClr val="EDF2F7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1993392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🛠️ Skills（技能）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3317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解决的痛点: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24328"/>
            <a:ext cx="8229600" cy="228600"/>
          </a:xfrm>
          <a:prstGeom prst="rect">
            <a:avLst>
              <a:gd name="adj" fmla="val 8000"/>
            </a:avLst>
          </a:prstGeom>
          <a:solidFill>
            <a:srgbClr val="EDF2F7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624328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1. 上下文碎片化 - 记忆在代码里、资源在向量库、技能散落各处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871216"/>
            <a:ext cx="8229600" cy="228600"/>
          </a:xfrm>
          <a:prstGeom prst="rect">
            <a:avLst>
              <a:gd name="adj" fmla="val 8000"/>
            </a:avLst>
          </a:prstGeom>
          <a:solidFill>
            <a:srgbClr val="EDF2F7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871216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2. 上下文需求激增 - 长任务产生大量上下文，简单截断导致信息丢失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118104"/>
            <a:ext cx="8229600" cy="228600"/>
          </a:xfrm>
          <a:prstGeom prst="rect">
            <a:avLst>
              <a:gd name="adj" fmla="val 8000"/>
            </a:avLst>
          </a:prstGeom>
          <a:solidFill>
            <a:srgbClr val="EDF2F7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118104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3. 检索效果差 - 传统RAG扁平存储，缺乏全局视图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364992"/>
            <a:ext cx="8229600" cy="228600"/>
          </a:xfrm>
          <a:prstGeom prst="rect">
            <a:avLst>
              <a:gd name="adj" fmla="val 8000"/>
            </a:avLst>
          </a:prstGeom>
          <a:solidFill>
            <a:srgbClr val="EDF2F7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364992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4. 检索不可观测 - 传统RAG检索链是黑盒，难以调试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611880"/>
            <a:ext cx="8229600" cy="228600"/>
          </a:xfrm>
          <a:prstGeom prst="rect">
            <a:avLst>
              <a:gd name="adj" fmla="val 8000"/>
            </a:avLst>
          </a:prstGeom>
          <a:solidFill>
            <a:srgbClr val="EDF2F7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611880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5. 记忆无法迭代 - 当前记忆只是交互记录，缺乏任务相关记忆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8580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核心创新：文件系统范式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724912" cy="3657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2724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维度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914400"/>
            <a:ext cx="2724912" cy="3657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0" y="914400"/>
            <a:ext cx="2724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传统RAG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0" y="914400"/>
            <a:ext cx="2724912" cy="3657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0" y="914400"/>
            <a:ext cx="2724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OpenViking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280160"/>
            <a:ext cx="2724912" cy="32004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2801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存储模型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1280160"/>
            <a:ext cx="2724912" cy="32004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12801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平面向量存储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280160"/>
            <a:ext cx="2724912" cy="32004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12801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层级文件系统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1600200"/>
            <a:ext cx="2724912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16002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检索方式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0" y="1600200"/>
            <a:ext cx="2724912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46120" y="16002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纯语义相似度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43600" y="1600200"/>
            <a:ext cx="2724912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89320" y="16002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目录定位 + 语义搜索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1920240"/>
            <a:ext cx="2724912" cy="32004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19202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上下文组织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0" y="1920240"/>
            <a:ext cx="2724912" cy="32004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46120" y="19202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分块存储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43600" y="1920240"/>
            <a:ext cx="2724912" cy="32004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89320" y="19202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L0/L1/L2三级结构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2240280"/>
            <a:ext cx="2724912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22402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可观测性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0" y="2240280"/>
            <a:ext cx="2724912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46120" y="22402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黑盒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943600" y="2240280"/>
            <a:ext cx="2724912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89320" y="22402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可视化检索轨迹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2560320"/>
            <a:ext cx="2724912" cy="32004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25603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记忆迭代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00400" y="2560320"/>
            <a:ext cx="2724912" cy="32004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46120" y="25603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无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943600" y="2560320"/>
            <a:ext cx="2724912" cy="32004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89320" y="25603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自动压缩提取长期记忆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8580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系统架构总览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457200"/>
          </a:xfrm>
          <a:prstGeom prst="rect">
            <a:avLst>
              <a:gd name="adj" fmla="val 10000"/>
            </a:avLst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Layer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1051560"/>
            <a:ext cx="1645920" cy="27432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0515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VikingBot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0" y="1051560"/>
            <a:ext cx="1645920" cy="27432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10515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客服机器人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1051560"/>
            <a:ext cx="1645920" cy="27432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0515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投标助手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0" y="1051560"/>
            <a:ext cx="1645920" cy="27432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0515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其他Agent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434840" y="1417320"/>
            <a:ext cx="274320" cy="182880"/>
          </a:xfrm>
          <a:prstGeom prst="rightArrow">
            <a:avLst/>
          </a:prstGeom>
          <a:solidFill>
            <a:srgbClr val="E2E8F0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1645920"/>
            <a:ext cx="8229600" cy="685800"/>
          </a:xfrm>
          <a:prstGeom prst="rect">
            <a:avLst>
              <a:gd name="adj" fmla="val 6667"/>
            </a:avLst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16459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OpenViking Server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1783080"/>
            <a:ext cx="1371600" cy="27432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1783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1520" y="2103120"/>
            <a:ext cx="1371600" cy="274320"/>
          </a:xfrm>
          <a:prstGeom prst="rect">
            <a:avLst>
              <a:gd name="adj" fmla="val 10000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2103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377440" y="1783080"/>
            <a:ext cx="1371600" cy="27432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77440" y="1783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377440" y="2103120"/>
            <a:ext cx="1371600" cy="274320"/>
          </a:xfrm>
          <a:prstGeom prst="rect">
            <a:avLst>
              <a:gd name="adj" fmla="val 10000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77440" y="2103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023360" y="1783080"/>
            <a:ext cx="1371600" cy="27432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23360" y="1783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023360" y="2103120"/>
            <a:ext cx="1371600" cy="274320"/>
          </a:xfrm>
          <a:prstGeom prst="rect">
            <a:avLst>
              <a:gd name="adj" fmla="val 10000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23360" y="2103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0" y="1783080"/>
            <a:ext cx="1371600" cy="27432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0" y="1783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VikingFS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669280" y="2103120"/>
            <a:ext cx="1371600" cy="274320"/>
          </a:xfrm>
          <a:prstGeom prst="rect">
            <a:avLst>
              <a:gd name="adj" fmla="val 10000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0" y="2103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315200" y="1783080"/>
            <a:ext cx="1371600" cy="27432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0" y="1783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315200" y="2103120"/>
            <a:ext cx="1371600" cy="274320"/>
          </a:xfrm>
          <a:prstGeom prst="rect">
            <a:avLst>
              <a:gd name="adj" fmla="val 10000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0" y="2103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434840" y="2377440"/>
            <a:ext cx="274320" cy="182880"/>
          </a:xfrm>
          <a:prstGeom prst="rightArrow">
            <a:avLst/>
          </a:prstGeom>
          <a:solidFill>
            <a:srgbClr val="E2E8F0"/>
          </a:solidFill>
          <a:ln/>
        </p:spPr>
      </p:sp>
      <p:sp>
        <p:nvSpPr>
          <p:cNvPr id="39" name="Shape 37"/>
          <p:cNvSpPr/>
          <p:nvPr/>
        </p:nvSpPr>
        <p:spPr>
          <a:xfrm>
            <a:off x="457200" y="2606040"/>
            <a:ext cx="8229600" cy="457200"/>
          </a:xfrm>
          <a:prstGeom prst="rect">
            <a:avLst>
              <a:gd name="adj" fmla="val 10000"/>
            </a:avLst>
          </a:prstGeom>
          <a:solidFill>
            <a:srgbClr val="97BC62"/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" y="2606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Layer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371600" y="2743200"/>
            <a:ext cx="1828800" cy="27432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371600" y="2743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AGFS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657600" y="2743200"/>
            <a:ext cx="1828800" cy="27432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0" y="2743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VectorDB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943600" y="2743200"/>
            <a:ext cx="1828800" cy="27432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43600" y="2743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8580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文档解析系统（Parser）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支持的格式: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8229600" cy="228600"/>
          </a:xfrm>
          <a:prstGeom prst="rect">
            <a:avLst>
              <a:gd name="adj" fmla="val 8000"/>
            </a:avLst>
          </a:prstGeom>
          <a:solidFill>
            <a:srgbClr val="EDF2F7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07008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PDF（pdfplumber / MinerU API双策略）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53896"/>
            <a:ext cx="8229600" cy="228600"/>
          </a:xfrm>
          <a:prstGeom prst="rect">
            <a:avLst>
              <a:gd name="adj" fmla="val 8000"/>
            </a:avLst>
          </a:prstGeom>
          <a:solidFill>
            <a:srgbClr val="EDF2F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453896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Markdown（原生支持）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700784"/>
            <a:ext cx="8229600" cy="228600"/>
          </a:xfrm>
          <a:prstGeom prst="rect">
            <a:avLst>
              <a:gd name="adj" fmla="val 8000"/>
            </a:avLst>
          </a:prstGeom>
          <a:solidFill>
            <a:srgbClr val="EDF2F7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700784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代码文件（多语言解析）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947672"/>
            <a:ext cx="8229600" cy="228600"/>
          </a:xfrm>
          <a:prstGeom prst="rect">
            <a:avLst>
              <a:gd name="adj" fmla="val 8000"/>
            </a:avLst>
          </a:prstGeom>
          <a:solidFill>
            <a:srgbClr val="EDF2F7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1947672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音视频（生成摘要）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22860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PDF解析流程: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578608"/>
            <a:ext cx="8229600" cy="320040"/>
          </a:xfrm>
          <a:prstGeom prst="rect">
            <a:avLst>
              <a:gd name="adj" fmla="val 5714"/>
            </a:avLst>
          </a:prstGeom>
          <a:solidFill>
            <a:srgbClr val="EDF2F7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578608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PDF File → Convert to Markdown → Parse Structure → VikingFS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00837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关键特性: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300984"/>
            <a:ext cx="8229600" cy="228600"/>
          </a:xfrm>
          <a:prstGeom prst="rect">
            <a:avLst>
              <a:gd name="adj" fmla="val 8000"/>
            </a:avLst>
          </a:prstGeom>
          <a:solidFill>
            <a:srgbClr val="EDF2F7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300984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1. 书签/大纲提取 → 自动生成目录结构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547872"/>
            <a:ext cx="8229600" cy="228600"/>
          </a:xfrm>
          <a:prstGeom prst="rect">
            <a:avLst>
              <a:gd name="adj" fmla="val 8000"/>
            </a:avLst>
          </a:prstGeom>
          <a:solidFill>
            <a:srgbClr val="EDF2F7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547872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2. 字体分析 → 智能识别标题层级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794760"/>
            <a:ext cx="8229600" cy="228600"/>
          </a:xfrm>
          <a:prstGeom prst="rect">
            <a:avLst>
              <a:gd name="adj" fmla="val 8000"/>
            </a:avLst>
          </a:prstGeom>
          <a:solidFill>
            <a:srgbClr val="EDF2F7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794760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3. 表格提取 → Markdown表格格式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4041648"/>
            <a:ext cx="8229600" cy="228600"/>
          </a:xfrm>
          <a:prstGeom prst="rect">
            <a:avLst>
              <a:gd name="adj" fmla="val 8000"/>
            </a:avLst>
          </a:prstGeom>
          <a:solidFill>
            <a:srgbClr val="EDF2F7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4041648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4. 图片提取 → 独立存储 + 占位符引用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437997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代码位置: openviking/parse/parsers/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8580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L0/L1/L2 三级上下文结构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743200" cy="731520"/>
          </a:xfrm>
          <a:prstGeom prst="rect">
            <a:avLst>
              <a:gd name="adj" fmla="val 6250"/>
            </a:avLst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L0 Abstract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FF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.abstract.md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474720" y="1143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一句话摘要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 rot="5400000">
            <a:off x="1645920" y="1691640"/>
            <a:ext cx="365760" cy="182880"/>
          </a:xfrm>
          <a:prstGeom prst="rightArrow">
            <a:avLst/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920240"/>
            <a:ext cx="2743200" cy="731520"/>
          </a:xfrm>
          <a:prstGeom prst="rect">
            <a:avLst>
              <a:gd name="adj" fmla="val 6250"/>
            </a:avLst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920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Overview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2240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FF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.overview.md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74720" y="2148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结构化摘要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 rot="5400000">
            <a:off x="1645920" y="2697480"/>
            <a:ext cx="365760" cy="182880"/>
          </a:xfrm>
          <a:prstGeom prst="rightArrow">
            <a:avLst/>
          </a:prstGeom>
          <a:solidFill>
            <a:srgbClr val="E2E8F0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926080"/>
            <a:ext cx="2743200" cy="731520"/>
          </a:xfrm>
          <a:prstGeom prst="rect">
            <a:avLst>
              <a:gd name="adj" fmla="val 6250"/>
            </a:avLst>
          </a:prstGeom>
          <a:solidFill>
            <a:srgbClr val="97BC62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926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Content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3246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FF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content.md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74720" y="3154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完整内容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优势: 按需加载，显著降低Token消耗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8580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语义处理流水线（Semantic Pipeline）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1005840" cy="731520"/>
          </a:xfrm>
          <a:prstGeom prst="roundRect">
            <a:avLst>
              <a:gd name="adj" fmla="val 12500"/>
            </a:avLst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4173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📤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上传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389888" y="1691640"/>
            <a:ext cx="100584" cy="137160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9" name="Shape 7"/>
          <p:cNvSpPr/>
          <p:nvPr/>
        </p:nvSpPr>
        <p:spPr>
          <a:xfrm>
            <a:off x="1508760" y="1371600"/>
            <a:ext cx="1005840" cy="731520"/>
          </a:xfrm>
          <a:prstGeom prst="roundRect">
            <a:avLst>
              <a:gd name="adj" fmla="val 12500"/>
            </a:avLst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1508760" y="14173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📖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08760" y="16916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32888" y="1691640"/>
            <a:ext cx="100584" cy="137160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13" name="Shape 11"/>
          <p:cNvSpPr/>
          <p:nvPr/>
        </p:nvSpPr>
        <p:spPr>
          <a:xfrm>
            <a:off x="2651760" y="1371600"/>
            <a:ext cx="1005840" cy="731520"/>
          </a:xfrm>
          <a:prstGeom prst="roundRect">
            <a:avLst>
              <a:gd name="adj" fmla="val 12500"/>
            </a:avLst>
          </a:prstGeom>
          <a:solidFill>
            <a:srgbClr val="4A90D9"/>
          </a:solidFill>
          <a:ln/>
        </p:spPr>
      </p:sp>
      <p:sp>
        <p:nvSpPr>
          <p:cNvPr id="14" name="Text 12"/>
          <p:cNvSpPr/>
          <p:nvPr/>
        </p:nvSpPr>
        <p:spPr>
          <a:xfrm>
            <a:off x="2651760" y="14173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📁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651760" y="16916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VikingFS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75888" y="1691640"/>
            <a:ext cx="100584" cy="137160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17" name="Shape 15"/>
          <p:cNvSpPr/>
          <p:nvPr/>
        </p:nvSpPr>
        <p:spPr>
          <a:xfrm>
            <a:off x="3794760" y="1371600"/>
            <a:ext cx="1005840" cy="731520"/>
          </a:xfrm>
          <a:prstGeom prst="roundRect">
            <a:avLst>
              <a:gd name="adj" fmla="val 12500"/>
            </a:avLst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3794760" y="14173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🧠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794760" y="16916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18888" y="1691640"/>
            <a:ext cx="100584" cy="137160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21" name="Shape 19"/>
          <p:cNvSpPr/>
          <p:nvPr/>
        </p:nvSpPr>
        <p:spPr>
          <a:xfrm>
            <a:off x="4937760" y="1371600"/>
            <a:ext cx="1005840" cy="731520"/>
          </a:xfrm>
          <a:prstGeom prst="roundRect">
            <a:avLst>
              <a:gd name="adj" fmla="val 12500"/>
            </a:avLst>
          </a:prstGeom>
          <a:solidFill>
            <a:srgbClr val="4A90D9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14173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✨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37760" y="16916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961888" y="1691640"/>
            <a:ext cx="100584" cy="137160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25" name="Shape 23"/>
          <p:cNvSpPr/>
          <p:nvPr/>
        </p:nvSpPr>
        <p:spPr>
          <a:xfrm>
            <a:off x="6080760" y="1371600"/>
            <a:ext cx="1005840" cy="731520"/>
          </a:xfrm>
          <a:prstGeom prst="roundRect">
            <a:avLst>
              <a:gd name="adj" fmla="val 12500"/>
            </a:avLst>
          </a:prstGeom>
          <a:solidFill>
            <a:srgbClr val="2C5F2D"/>
          </a:solidFill>
          <a:ln/>
        </p:spPr>
      </p:sp>
      <p:sp>
        <p:nvSpPr>
          <p:cNvPr id="26" name="Text 24"/>
          <p:cNvSpPr/>
          <p:nvPr/>
        </p:nvSpPr>
        <p:spPr>
          <a:xfrm>
            <a:off x="6080760" y="14173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080760" y="16916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104888" y="1691640"/>
            <a:ext cx="100584" cy="137160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29" name="Shape 27"/>
          <p:cNvSpPr/>
          <p:nvPr/>
        </p:nvSpPr>
        <p:spPr>
          <a:xfrm>
            <a:off x="7223760" y="1371600"/>
            <a:ext cx="1005840" cy="731520"/>
          </a:xfrm>
          <a:prstGeom prst="roundRect">
            <a:avLst>
              <a:gd name="adj" fmla="val 12500"/>
            </a:avLst>
          </a:prstGeom>
          <a:solidFill>
            <a:srgbClr val="4A90D9"/>
          </a:solidFill>
          <a:ln/>
        </p:spPr>
      </p:sp>
      <p:sp>
        <p:nvSpPr>
          <p:cNvPr id="30" name="Text 28"/>
          <p:cNvSpPr/>
          <p:nvPr/>
        </p:nvSpPr>
        <p:spPr>
          <a:xfrm>
            <a:off x="7223760" y="14173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💾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223760" y="16916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存储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14400" y="2560320"/>
            <a:ext cx="2286000" cy="36576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2560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异步队列处理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0" y="2560320"/>
            <a:ext cx="2286000" cy="36576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0" y="2560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熔断机制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00800" y="2560320"/>
            <a:ext cx="2286000" cy="36576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0" y="2560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增量更新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8580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索引系统架构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457200"/>
          </a:xfrm>
          <a:prstGeom prst="rect">
            <a:avLst>
              <a:gd name="adj" fmla="val 10000"/>
            </a:avLst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Layer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1051560"/>
            <a:ext cx="1645920" cy="27432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0515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VikingBot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0" y="1051560"/>
            <a:ext cx="1645920" cy="27432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10515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客服机器人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1051560"/>
            <a:ext cx="1645920" cy="27432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0515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投标助手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0" y="1051560"/>
            <a:ext cx="1645920" cy="27432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0515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其他Agent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434840" y="1417320"/>
            <a:ext cx="274320" cy="182880"/>
          </a:xfrm>
          <a:prstGeom prst="rightArrow">
            <a:avLst/>
          </a:prstGeom>
          <a:solidFill>
            <a:srgbClr val="E2E8F0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1645920"/>
            <a:ext cx="8229600" cy="685800"/>
          </a:xfrm>
          <a:prstGeom prst="rect">
            <a:avLst>
              <a:gd name="adj" fmla="val 6667"/>
            </a:avLst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16459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OpenViking Server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1783080"/>
            <a:ext cx="1371600" cy="27432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1783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1520" y="2103120"/>
            <a:ext cx="1371600" cy="274320"/>
          </a:xfrm>
          <a:prstGeom prst="rect">
            <a:avLst>
              <a:gd name="adj" fmla="val 10000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2103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377440" y="1783080"/>
            <a:ext cx="1371600" cy="27432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77440" y="1783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377440" y="2103120"/>
            <a:ext cx="1371600" cy="274320"/>
          </a:xfrm>
          <a:prstGeom prst="rect">
            <a:avLst>
              <a:gd name="adj" fmla="val 10000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77440" y="2103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023360" y="1783080"/>
            <a:ext cx="1371600" cy="27432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23360" y="1783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023360" y="2103120"/>
            <a:ext cx="1371600" cy="274320"/>
          </a:xfrm>
          <a:prstGeom prst="rect">
            <a:avLst>
              <a:gd name="adj" fmla="val 10000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23360" y="2103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0" y="1783080"/>
            <a:ext cx="1371600" cy="27432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0" y="1783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VikingFS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669280" y="2103120"/>
            <a:ext cx="1371600" cy="274320"/>
          </a:xfrm>
          <a:prstGeom prst="rect">
            <a:avLst>
              <a:gd name="adj" fmla="val 10000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0" y="2103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315200" y="1783080"/>
            <a:ext cx="1371600" cy="27432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0" y="1783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315200" y="2103120"/>
            <a:ext cx="1371600" cy="274320"/>
          </a:xfrm>
          <a:prstGeom prst="rect">
            <a:avLst>
              <a:gd name="adj" fmla="val 10000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0" y="2103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434840" y="2377440"/>
            <a:ext cx="274320" cy="182880"/>
          </a:xfrm>
          <a:prstGeom prst="rightArrow">
            <a:avLst/>
          </a:prstGeom>
          <a:solidFill>
            <a:srgbClr val="E2E8F0"/>
          </a:solidFill>
          <a:ln/>
        </p:spPr>
      </p:sp>
      <p:sp>
        <p:nvSpPr>
          <p:cNvPr id="39" name="Shape 37"/>
          <p:cNvSpPr/>
          <p:nvPr/>
        </p:nvSpPr>
        <p:spPr>
          <a:xfrm>
            <a:off x="457200" y="2606040"/>
            <a:ext cx="8229600" cy="457200"/>
          </a:xfrm>
          <a:prstGeom prst="rect">
            <a:avLst>
              <a:gd name="adj" fmla="val 10000"/>
            </a:avLst>
          </a:prstGeom>
          <a:solidFill>
            <a:srgbClr val="97BC62"/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" y="2606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Layer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371600" y="2743200"/>
            <a:ext cx="1828800" cy="27432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371600" y="2743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AGFS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657600" y="2743200"/>
            <a:ext cx="1828800" cy="27432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0" y="2743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VectorDB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943600" y="2743200"/>
            <a:ext cx="1828800" cy="27432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43600" y="2743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8580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检索引擎：HierarchicalRetriever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914400"/>
            <a:ext cx="548640" cy="5486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914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Query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Embedding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783080" y="1097280"/>
            <a:ext cx="182880" cy="182880"/>
          </a:xfrm>
          <a:prstGeom prst="rightArrow">
            <a:avLst/>
          </a:prstGeom>
          <a:solidFill>
            <a:srgbClr val="E2E8F0"/>
          </a:solidFill>
          <a:ln/>
        </p:spPr>
      </p:sp>
      <p:sp>
        <p:nvSpPr>
          <p:cNvPr id="9" name="Shape 7"/>
          <p:cNvSpPr/>
          <p:nvPr/>
        </p:nvSpPr>
        <p:spPr>
          <a:xfrm>
            <a:off x="2377440" y="91440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2377440" y="914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011680" y="15544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Global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Search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37560" y="1097280"/>
            <a:ext cx="182880" cy="182880"/>
          </a:xfrm>
          <a:prstGeom prst="rightArrow">
            <a:avLst/>
          </a:prstGeom>
          <a:solidFill>
            <a:srgbClr val="E2E8F0"/>
          </a:solidFill>
          <a:ln/>
        </p:spPr>
      </p:sp>
      <p:sp>
        <p:nvSpPr>
          <p:cNvPr id="13" name="Shape 11"/>
          <p:cNvSpPr/>
          <p:nvPr/>
        </p:nvSpPr>
        <p:spPr>
          <a:xfrm>
            <a:off x="3931920" y="914400"/>
            <a:ext cx="548640" cy="5486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4" name="Text 12"/>
          <p:cNvSpPr/>
          <p:nvPr/>
        </p:nvSpPr>
        <p:spPr>
          <a:xfrm>
            <a:off x="3931920" y="914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566160" y="15544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Merge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Points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92040" y="1097280"/>
            <a:ext cx="182880" cy="182880"/>
          </a:xfrm>
          <a:prstGeom prst="rightArrow">
            <a:avLst/>
          </a:prstGeom>
          <a:solidFill>
            <a:srgbClr val="E2E8F0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0" y="914400"/>
            <a:ext cx="548640" cy="548640"/>
          </a:xfrm>
          <a:prstGeom prst="ellipse">
            <a:avLst/>
          </a:prstGeom>
          <a:solidFill>
            <a:srgbClr val="DD6B2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0" y="914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120640" y="15544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Recursive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Search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46520" y="1097280"/>
            <a:ext cx="182880" cy="182880"/>
          </a:xfrm>
          <a:prstGeom prst="rightArrow">
            <a:avLst/>
          </a:prstGeom>
          <a:solidFill>
            <a:srgbClr val="E2E8F0"/>
          </a:solidFill>
          <a:ln/>
        </p:spPr>
      </p:sp>
      <p:sp>
        <p:nvSpPr>
          <p:cNvPr id="21" name="Shape 19"/>
          <p:cNvSpPr/>
          <p:nvPr/>
        </p:nvSpPr>
        <p:spPr>
          <a:xfrm>
            <a:off x="7040880" y="914400"/>
            <a:ext cx="548640" cy="548640"/>
          </a:xfrm>
          <a:prstGeom prst="ellipse">
            <a:avLst/>
          </a:prstGeom>
          <a:solidFill>
            <a:srgbClr val="805AD5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0" y="914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675120" y="15544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Return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L2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2560320"/>
            <a:ext cx="8229600" cy="1371600"/>
          </a:xfrm>
          <a:prstGeom prst="roundRect">
            <a:avLst>
              <a:gd name="adj" fmla="val 3333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2651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递归搜索算法核心: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29260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优先检索父目录(L0/L1) • 分数向下传播: final_score = α·child + (1-α)·parent • Rerank精排优化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8580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递归目录检索算法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算法核心逻辑: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8229600" cy="228600"/>
          </a:xfrm>
          <a:prstGeom prst="rect">
            <a:avLst>
              <a:gd name="adj" fmla="val 8000"/>
            </a:avLst>
          </a:prstGeom>
          <a:solidFill>
            <a:srgbClr val="EDF2F7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98448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recursive_search(query, starting_points):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545336"/>
            <a:ext cx="8229600" cy="228600"/>
          </a:xfrm>
          <a:prstGeom prst="rect">
            <a:avLst>
              <a:gd name="adj" fmla="val 8000"/>
            </a:avLst>
          </a:prstGeom>
          <a:solidFill>
            <a:srgbClr val="EDF2F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45336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优先队列：按分数排序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792224"/>
            <a:ext cx="8229600" cy="228600"/>
          </a:xfrm>
          <a:prstGeom prst="rect">
            <a:avLst>
              <a:gd name="adj" fmla="val 8000"/>
            </a:avLst>
          </a:prstGeom>
          <a:solidFill>
            <a:srgbClr val="EDF2F7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792224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dir_queue = PriorityQueue()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039112"/>
            <a:ext cx="8229600" cy="228600"/>
          </a:xfrm>
          <a:prstGeom prst="rect">
            <a:avLst>
              <a:gd name="adj" fmla="val 8000"/>
            </a:avLst>
          </a:prstGeom>
          <a:solidFill>
            <a:srgbClr val="EDF2F7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039112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collected = {}  # URI → 候选结果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286000"/>
            <a:ext cx="8229600" cy="228600"/>
          </a:xfrm>
          <a:prstGeom prst="rect">
            <a:avLst>
              <a:gd name="adj" fmla="val 8000"/>
            </a:avLst>
          </a:prstGeom>
          <a:solidFill>
            <a:srgbClr val="EDF2F7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286000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visited = set()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624328"/>
            <a:ext cx="8229600" cy="228600"/>
          </a:xfrm>
          <a:prstGeom prst="rect">
            <a:avLst>
              <a:gd name="adj" fmla="val 8000"/>
            </a:avLst>
          </a:prstGeom>
          <a:solidFill>
            <a:srgbClr val="EDF2F7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624328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初始化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871216"/>
            <a:ext cx="8229600" cy="228600"/>
          </a:xfrm>
          <a:prstGeom prst="rect">
            <a:avLst>
              <a:gd name="adj" fmla="val 8000"/>
            </a:avLst>
          </a:prstGeom>
          <a:solidFill>
            <a:srgbClr val="EDF2F7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2871216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uri, score in starting_points: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118104"/>
            <a:ext cx="8229600" cy="228600"/>
          </a:xfrm>
          <a:prstGeom prst="rect">
            <a:avLst>
              <a:gd name="adj" fmla="val 8000"/>
            </a:avLst>
          </a:prstGeom>
          <a:solidFill>
            <a:srgbClr val="EDF2F7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118104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dir_queue.push((-score, uri))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456432"/>
            <a:ext cx="8229600" cy="228600"/>
          </a:xfrm>
          <a:prstGeom prst="rect">
            <a:avLst>
              <a:gd name="adj" fmla="val 8000"/>
            </a:avLst>
          </a:prstGeom>
          <a:solidFill>
            <a:srgbClr val="EDF2F7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456432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dir_queue not empty: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703320"/>
            <a:ext cx="8229600" cy="228600"/>
          </a:xfrm>
          <a:prstGeom prst="rect">
            <a:avLst>
              <a:gd name="adj" fmla="val 8000"/>
            </a:avLst>
          </a:prstGeom>
          <a:solidFill>
            <a:srgbClr val="EDF2F7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3703320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current_score, current_uri = dir_queue.pop()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3950208"/>
            <a:ext cx="8229600" cy="228600"/>
          </a:xfrm>
          <a:prstGeom prst="rect">
            <a:avLst>
              <a:gd name="adj" fmla="val 8000"/>
            </a:avLst>
          </a:prstGeom>
          <a:solidFill>
            <a:srgbClr val="EDF2F7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3950208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current_uri in visited: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4197096"/>
            <a:ext cx="8229600" cy="228600"/>
          </a:xfrm>
          <a:prstGeom prst="rect">
            <a:avLst>
              <a:gd name="adj" fmla="val 8000"/>
            </a:avLst>
          </a:prstGeom>
          <a:solidFill>
            <a:srgbClr val="EDF2F7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4197096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continue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4443984"/>
            <a:ext cx="8229600" cy="228600"/>
          </a:xfrm>
          <a:prstGeom prst="rect">
            <a:avLst>
              <a:gd name="adj" fmla="val 8000"/>
            </a:avLst>
          </a:prstGeom>
          <a:solidFill>
            <a:srgbClr val="EDF2F7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4443984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visited.add(current_uri)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8580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VikingBot: Agent框架集成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0" y="1645920"/>
            <a:ext cx="1828800" cy="10972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0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AgentLoop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914400"/>
            <a:ext cx="1645920" cy="731520"/>
          </a:xfrm>
          <a:prstGeom prst="roundRect">
            <a:avLst>
              <a:gd name="adj" fmla="val 12500"/>
            </a:avLst>
          </a:prstGeom>
          <a:solidFill>
            <a:srgbClr val="4A90D9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9144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 w="25400">
            <a:solidFill>
              <a:srgbClr val="E2E8F0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914400" y="2560320"/>
            <a:ext cx="1645920" cy="731520"/>
          </a:xfrm>
          <a:prstGeom prst="roundRect">
            <a:avLst>
              <a:gd name="adj" fmla="val 12500"/>
            </a:avLst>
          </a:prstGeom>
          <a:solidFill>
            <a:srgbClr val="4A90D9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5603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 w="25400">
            <a:solidFill>
              <a:srgbClr val="E2E8F0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6400800" y="914400"/>
            <a:ext cx="1645920" cy="731520"/>
          </a:xfrm>
          <a:prstGeom prst="roundRect">
            <a:avLst>
              <a:gd name="adj" fmla="val 12500"/>
            </a:avLst>
          </a:prstGeom>
          <a:solidFill>
            <a:srgbClr val="4A90D9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9144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 w="25400">
            <a:solidFill>
              <a:srgbClr val="E2E8F0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6400800" y="2560320"/>
            <a:ext cx="1645920" cy="731520"/>
          </a:xfrm>
          <a:prstGeom prst="roundRect">
            <a:avLst>
              <a:gd name="adj" fmla="val 12500"/>
            </a:avLst>
          </a:prstGeom>
          <a:solidFill>
            <a:srgbClr val="97BC6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25603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 w="25400">
            <a:solidFill>
              <a:srgbClr val="E2E8F0"/>
            </a:solidFill>
            <a:prstDash val="dash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8580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应用场景1：智能客服支持机器人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828800" cy="640080"/>
          </a:xfrm>
          <a:prstGeom prst="roundRect">
            <a:avLst>
              <a:gd name="adj" fmla="val 14286"/>
            </a:avLst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用户提问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31720" y="1645920"/>
            <a:ext cx="182880" cy="137160"/>
          </a:xfrm>
          <a:prstGeom prst="rightArrow">
            <a:avLst/>
          </a:prstGeom>
          <a:solidFill>
            <a:srgbClr val="E2E8F0"/>
          </a:solidFill>
          <a:ln/>
        </p:spPr>
      </p:sp>
      <p:sp>
        <p:nvSpPr>
          <p:cNvPr id="8" name="Shape 6"/>
          <p:cNvSpPr/>
          <p:nvPr/>
        </p:nvSpPr>
        <p:spPr>
          <a:xfrm>
            <a:off x="2560320" y="1371600"/>
            <a:ext cx="1828800" cy="640080"/>
          </a:xfrm>
          <a:prstGeom prst="roundRect">
            <a:avLst>
              <a:gd name="adj" fmla="val 14286"/>
            </a:avLst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0" y="13716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检索知识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34840" y="1645920"/>
            <a:ext cx="182880" cy="137160"/>
          </a:xfrm>
          <a:prstGeom prst="rightArrow">
            <a:avLst/>
          </a:prstGeom>
          <a:solidFill>
            <a:srgbClr val="E2E8F0"/>
          </a:solidFill>
          <a:ln/>
        </p:spPr>
      </p:sp>
      <p:sp>
        <p:nvSpPr>
          <p:cNvPr id="11" name="Shape 9"/>
          <p:cNvSpPr/>
          <p:nvPr/>
        </p:nvSpPr>
        <p:spPr>
          <a:xfrm>
            <a:off x="4663440" y="1371600"/>
            <a:ext cx="1828800" cy="640080"/>
          </a:xfrm>
          <a:prstGeom prst="roundRect">
            <a:avLst>
              <a:gd name="adj" fmla="val 14286"/>
            </a:avLst>
          </a:prstGeom>
          <a:solidFill>
            <a:srgbClr val="97BC62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3716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Agent处理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37960" y="1645920"/>
            <a:ext cx="182880" cy="137160"/>
          </a:xfrm>
          <a:prstGeom prst="rightArrow">
            <a:avLst/>
          </a:prstGeom>
          <a:solidFill>
            <a:srgbClr val="E2E8F0"/>
          </a:solidFill>
          <a:ln/>
        </p:spPr>
      </p:sp>
      <p:sp>
        <p:nvSpPr>
          <p:cNvPr id="14" name="Shape 12"/>
          <p:cNvSpPr/>
          <p:nvPr/>
        </p:nvSpPr>
        <p:spPr>
          <a:xfrm>
            <a:off x="6766560" y="1371600"/>
            <a:ext cx="1828800" cy="640080"/>
          </a:xfrm>
          <a:prstGeom prst="roundRect">
            <a:avLst>
              <a:gd name="adj" fmla="val 14286"/>
            </a:avLst>
          </a:prstGeom>
          <a:solidFill>
            <a:srgbClr val="DD6B20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0" y="13716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生成回答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8580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应用场景2：智能投标助手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解析招标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03120" y="137160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18096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468880" y="1371600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2468880" y="13716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检索资质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0" y="137160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18096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480560" y="1371600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97BC62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13716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匹配证据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26480" y="137160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18096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492240" y="1371600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DD6B20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13716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生成文件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8580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扩展更多Agent应用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0" y="1645920"/>
            <a:ext cx="1828800" cy="10972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0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AgentLoop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914400"/>
            <a:ext cx="1645920" cy="731520"/>
          </a:xfrm>
          <a:prstGeom prst="roundRect">
            <a:avLst>
              <a:gd name="adj" fmla="val 12500"/>
            </a:avLst>
          </a:prstGeom>
          <a:solidFill>
            <a:srgbClr val="4A90D9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9144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 w="25400">
            <a:solidFill>
              <a:srgbClr val="E2E8F0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914400" y="2560320"/>
            <a:ext cx="1645920" cy="731520"/>
          </a:xfrm>
          <a:prstGeom prst="roundRect">
            <a:avLst>
              <a:gd name="adj" fmla="val 12500"/>
            </a:avLst>
          </a:prstGeom>
          <a:solidFill>
            <a:srgbClr val="4A90D9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5603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 w="25400">
            <a:solidFill>
              <a:srgbClr val="E2E8F0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6400800" y="914400"/>
            <a:ext cx="1645920" cy="731520"/>
          </a:xfrm>
          <a:prstGeom prst="roundRect">
            <a:avLst>
              <a:gd name="adj" fmla="val 12500"/>
            </a:avLst>
          </a:prstGeom>
          <a:solidFill>
            <a:srgbClr val="4A90D9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9144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 w="25400">
            <a:solidFill>
              <a:srgbClr val="E2E8F0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6400800" y="2560320"/>
            <a:ext cx="1645920" cy="731520"/>
          </a:xfrm>
          <a:prstGeom prst="roundRect">
            <a:avLst>
              <a:gd name="adj" fmla="val 12500"/>
            </a:avLst>
          </a:prstGeom>
          <a:solidFill>
            <a:srgbClr val="97BC6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25603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 w="25400">
            <a:solidFill>
              <a:srgbClr val="E2E8F0"/>
            </a:solidFill>
            <a:prstDash val="dash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8580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技术栈全景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语言与运行时: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8229600" cy="228600"/>
          </a:xfrm>
          <a:prstGeom prst="rect">
            <a:avLst>
              <a:gd name="adj" fmla="val 8000"/>
            </a:avLst>
          </a:prstGeom>
          <a:solidFill>
            <a:srgbClr val="EDF2F7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07008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Python 3.10+ (主服务)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53896"/>
            <a:ext cx="8229600" cy="228600"/>
          </a:xfrm>
          <a:prstGeom prst="rect">
            <a:avLst>
              <a:gd name="adj" fmla="val 8000"/>
            </a:avLst>
          </a:prstGeom>
          <a:solidFill>
            <a:srgbClr val="EDF2F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453896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Rust (CLI工具 ov_cli)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700784"/>
            <a:ext cx="8229600" cy="228600"/>
          </a:xfrm>
          <a:prstGeom prst="rect">
            <a:avLst>
              <a:gd name="adj" fmla="val 8000"/>
            </a:avLst>
          </a:prstGeom>
          <a:solidFill>
            <a:srgbClr val="EDF2F7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700784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Go (AGFS文件系统)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03911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核心依赖: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331720"/>
            <a:ext cx="8229600" cy="228600"/>
          </a:xfrm>
          <a:prstGeom prst="rect">
            <a:avLst>
              <a:gd name="adj" fmla="val 8000"/>
            </a:avLst>
          </a:prstGeom>
          <a:solidFill>
            <a:srgbClr val="EDF2F7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331720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向量数据库: VikingDB / RocksDB / Milvus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578608"/>
            <a:ext cx="8229600" cy="228600"/>
          </a:xfrm>
          <a:prstGeom prst="rect">
            <a:avLst>
              <a:gd name="adj" fmla="val 8000"/>
            </a:avLst>
          </a:prstGeom>
          <a:solidFill>
            <a:srgbClr val="EDF2F7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578608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嵌入模型: 支持OpenAI/Volcengine/Jina等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825496"/>
            <a:ext cx="8229600" cy="228600"/>
          </a:xfrm>
          <a:prstGeom prst="rect">
            <a:avLst>
              <a:gd name="adj" fmla="val 8000"/>
            </a:avLst>
          </a:prstGeom>
          <a:solidFill>
            <a:srgbClr val="EDF2F7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825496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VLM模型: GPT-4V/Claude/Doubao等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072384"/>
            <a:ext cx="8229600" cy="228600"/>
          </a:xfrm>
          <a:prstGeom prst="rect">
            <a:avLst>
              <a:gd name="adj" fmla="val 8000"/>
            </a:avLst>
          </a:prstGeom>
          <a:solidFill>
            <a:srgbClr val="EDF2F7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072384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重排序: Cohere Rerank / BGE Rerank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341071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部署方式: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703320"/>
            <a:ext cx="8229600" cy="228600"/>
          </a:xfrm>
          <a:prstGeom prst="rect">
            <a:avLst>
              <a:gd name="adj" fmla="val 8000"/>
            </a:avLst>
          </a:prstGeom>
          <a:solidFill>
            <a:srgbClr val="EDF2F7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703320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Docker Compose (推荐)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950208"/>
            <a:ext cx="8229600" cy="228600"/>
          </a:xfrm>
          <a:prstGeom prst="rect">
            <a:avLst>
              <a:gd name="adj" fmla="val 8000"/>
            </a:avLst>
          </a:prstGeom>
          <a:solidFill>
            <a:srgbClr val="EDF2F7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3950208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Kubernetes (生产环境)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4197096"/>
            <a:ext cx="8229600" cy="228600"/>
          </a:xfrm>
          <a:prstGeom prst="rect">
            <a:avLst>
              <a:gd name="adj" fmla="val 8000"/>
            </a:avLst>
          </a:prstGeom>
          <a:solidFill>
            <a:srgbClr val="EDF2F7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4197096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单机二进制 (快速体验)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8580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未来演进方向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短期（3-6个月）: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8229600" cy="228600"/>
          </a:xfrm>
          <a:prstGeom prst="rect">
            <a:avLst>
              <a:gd name="adj" fmla="val 8000"/>
            </a:avLst>
          </a:prstGeom>
          <a:solidFill>
            <a:srgbClr val="EDF2F7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07008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完善MCP协议支持，无缝对接更多Agent框架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53896"/>
            <a:ext cx="8229600" cy="228600"/>
          </a:xfrm>
          <a:prstGeom prst="rect">
            <a:avLst>
              <a:gd name="adj" fmla="val 8000"/>
            </a:avLst>
          </a:prstGeom>
          <a:solidFill>
            <a:srgbClr val="EDF2F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453896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增强多模态能力（图片、视频、音频深度理解）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700784"/>
            <a:ext cx="8229600" cy="228600"/>
          </a:xfrm>
          <a:prstGeom prst="rect">
            <a:avLst>
              <a:gd name="adj" fmla="val 8000"/>
            </a:avLst>
          </a:prstGeom>
          <a:solidFill>
            <a:srgbClr val="EDF2F7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700784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优化检索性能（支持10亿级文档）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03911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中期（6-12个月）: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331720"/>
            <a:ext cx="8229600" cy="228600"/>
          </a:xfrm>
          <a:prstGeom prst="rect">
            <a:avLst>
              <a:gd name="adj" fmla="val 8000"/>
            </a:avLst>
          </a:prstGeom>
          <a:solidFill>
            <a:srgbClr val="EDF2F7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331720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知识图谱集成（实体关系抽取与推理）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578608"/>
            <a:ext cx="8229600" cy="228600"/>
          </a:xfrm>
          <a:prstGeom prst="rect">
            <a:avLst>
              <a:gd name="adj" fmla="val 8000"/>
            </a:avLst>
          </a:prstGeom>
          <a:solidFill>
            <a:srgbClr val="EDF2F7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578608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联邦检索（跨组织知识库检索）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825496"/>
            <a:ext cx="8229600" cy="228600"/>
          </a:xfrm>
          <a:prstGeom prst="rect">
            <a:avLst>
              <a:gd name="adj" fmla="val 8000"/>
            </a:avLst>
          </a:prstGeom>
          <a:solidFill>
            <a:srgbClr val="EDF2F7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825496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自适应索引（根据查询模式自动优化）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316382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长期（1年+）: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456432"/>
            <a:ext cx="8229600" cy="228600"/>
          </a:xfrm>
          <a:prstGeom prst="rect">
            <a:avLst>
              <a:gd name="adj" fmla="val 8000"/>
            </a:avLst>
          </a:prstGeom>
          <a:solidFill>
            <a:srgbClr val="EDF2F7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456432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多Agent协同（共享知识库，分工协作）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703320"/>
            <a:ext cx="8229600" cy="228600"/>
          </a:xfrm>
          <a:prstGeom prst="rect">
            <a:avLst>
              <a:gd name="adj" fmla="val 8000"/>
            </a:avLst>
          </a:prstGeom>
          <a:solidFill>
            <a:srgbClr val="EDF2F7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703320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主动学习（Agent主动补充知识盲区）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950208"/>
            <a:ext cx="8229600" cy="228600"/>
          </a:xfrm>
          <a:prstGeom prst="rect">
            <a:avLst>
              <a:gd name="adj" fmla="val 8000"/>
            </a:avLst>
          </a:prstGeom>
          <a:solidFill>
            <a:srgbClr val="EDF2F7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3950208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个性化记忆（用户级记忆隔离与共享）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8580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OpenViking的核心价值: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8229600" cy="228600"/>
          </a:xfrm>
          <a:prstGeom prst="rect">
            <a:avLst>
              <a:gd name="adj" fmla="val 8000"/>
            </a:avLst>
          </a:prstGeom>
          <a:solidFill>
            <a:srgbClr val="EDF2F7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98448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统一范式 - 用文件系统思维解决上下文管理难题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636776"/>
            <a:ext cx="8229600" cy="228600"/>
          </a:xfrm>
          <a:prstGeom prst="rect">
            <a:avLst>
              <a:gd name="adj" fmla="val 8000"/>
            </a:avLst>
          </a:prstGeom>
          <a:solidFill>
            <a:srgbClr val="EDF2F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636776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三级结构 - L0/L1/L2按需加载，平衡精度与成本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975104"/>
            <a:ext cx="8229600" cy="228600"/>
          </a:xfrm>
          <a:prstGeom prst="rect">
            <a:avLst>
              <a:gd name="adj" fmla="val 8000"/>
            </a:avLst>
          </a:prstGeom>
          <a:solidFill>
            <a:srgbClr val="EDF2F7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975104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递归检索 - 目录定位 + 语义搜索，提升检索效果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313432"/>
            <a:ext cx="8229600" cy="228600"/>
          </a:xfrm>
          <a:prstGeom prst="rect">
            <a:avLst>
              <a:gd name="adj" fmla="val 8000"/>
            </a:avLst>
          </a:prstGeom>
          <a:solidFill>
            <a:srgbClr val="EDF2F7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313432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可观测性 - 可视化检索轨迹，白盒化调试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8229600" cy="228600"/>
          </a:xfrm>
          <a:prstGeom prst="rect">
            <a:avLst>
              <a:gd name="adj" fmla="val 8000"/>
            </a:avLst>
          </a:prstGeom>
          <a:solidFill>
            <a:srgbClr val="EDF2F7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651760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开放生态 - MCP协议 + Tool Registry，支持任意Agent框架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29900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愿景: 成为AI时代的文件系统，让Agent拥有真正可用的长期记忆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457200"/>
            <a:ext cx="1371600" cy="1371600"/>
          </a:xfrm>
          <a:prstGeom prst="ellipse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457200" y="3657600"/>
            <a:ext cx="1828800" cy="1828800"/>
          </a:xfrm>
          <a:prstGeom prst="ellipse">
            <a:avLst/>
          </a:prstGeom>
          <a:solidFill>
            <a:srgbClr val="FFFFFF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&amp; A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3657600" y="3017520"/>
            <a:ext cx="1828800" cy="36576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6F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感谢聆听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OpenViking 技术架构深度解析</dc:title>
  <dc:subject>通用知识库系统与Agent框架集成</dc:subject>
  <dc:creator>技术分享</dc:creator>
  <cp:lastModifiedBy>技术分享</cp:lastModifiedBy>
  <cp:revision>1</cp:revision>
  <dcterms:created xsi:type="dcterms:W3CDTF">2026-04-23T02:21:45Z</dcterms:created>
  <dcterms:modified xsi:type="dcterms:W3CDTF">2026-04-23T02:21:45Z</dcterms:modified>
</cp:coreProperties>
</file>